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gerian" panose="04020705040A02060702" pitchFamily="82" charset="0"/>
      <p:regular r:id="rId13"/>
    </p:embeddedFon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  <p:embeddedFont>
      <p:font typeface="Petrona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0522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49684"/>
            <a:ext cx="6296860" cy="2325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Smart Attendance with Mask and Face Recognition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61475" y="3329682"/>
            <a:ext cx="6296860" cy="2835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Subject:</a:t>
            </a:r>
            <a:r>
              <a:rPr lang="en-US" sz="2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Digital Image Processing</a:t>
            </a:r>
            <a:endParaRPr lang="en-US" sz="2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Students:</a:t>
            </a:r>
            <a:r>
              <a:rPr lang="en-US" sz="2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-Murad khan </a:t>
            </a:r>
            <a:endParaRPr lang="en-US" sz="2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-Muaz Abdul Rab</a:t>
            </a:r>
            <a:endParaRPr lang="en-US" sz="2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-Mohd Hamza Khan</a:t>
            </a:r>
            <a:endParaRPr lang="en-US" sz="2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Faculty:</a:t>
            </a:r>
            <a:r>
              <a:rPr lang="en-US" sz="2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Mr Shakir Ali</a:t>
            </a:r>
            <a:endParaRPr lang="en-US" sz="2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Date: </a:t>
            </a:r>
            <a:r>
              <a:rPr lang="en-US" sz="2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21/09/2026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9684"/>
            <a:ext cx="10868745" cy="77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Abstract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661475" y="1897360"/>
            <a:ext cx="10868745" cy="3850283"/>
          </a:xfrm>
          <a:prstGeom prst="roundRect">
            <a:avLst>
              <a:gd name="adj" fmla="val 2577"/>
            </a:avLst>
          </a:prstGeom>
          <a:solidFill>
            <a:srgbClr val="CCEEFF"/>
          </a:solidFill>
          <a:ln/>
        </p:spPr>
      </p:sp>
      <p:sp>
        <p:nvSpPr>
          <p:cNvPr id="4" name="Text 2"/>
          <p:cNvSpPr/>
          <p:nvPr/>
        </p:nvSpPr>
        <p:spPr>
          <a:xfrm>
            <a:off x="897709" y="2192635"/>
            <a:ext cx="11005862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-Manual attendance is time-consuming and error-prone.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97709" y="2783185"/>
            <a:ext cx="10396277" cy="2692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-We built a laptop/PC-based smart attendance system that uses Integrated or standard USB webcam to perform real-time face detection, mask detection, head-pose guidance, and face recognition.</a:t>
            </a:r>
            <a:endParaRPr lang="en-US" sz="18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-The system records attendance into SQLite and provides a Flask dashboard with live counters and Excel export.</a:t>
            </a:r>
            <a:endParaRPr lang="en-US" sz="1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</a:t>
            </a:r>
            <a:r>
              <a:rPr lang="en-US" sz="1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Python, OpenCV, MediaPipe, OpenCV SFace, Flask, SQLite, openpyxl.</a:t>
            </a:r>
            <a:endParaRPr lang="en-US" sz="18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9E04A6-418B-3230-5DDA-F16359BE7312}"/>
              </a:ext>
            </a:extLst>
          </p:cNvPr>
          <p:cNvSpPr/>
          <p:nvPr/>
        </p:nvSpPr>
        <p:spPr>
          <a:xfrm>
            <a:off x="10990053" y="6521569"/>
            <a:ext cx="1201947" cy="34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9684"/>
            <a:ext cx="10868745" cy="77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661475" y="1897360"/>
            <a:ext cx="3465426" cy="3861891"/>
          </a:xfrm>
          <a:prstGeom prst="roundRect">
            <a:avLst>
              <a:gd name="adj" fmla="val 2864"/>
            </a:avLst>
          </a:prstGeom>
          <a:solidFill>
            <a:srgbClr val="CCEEFF"/>
          </a:solidFill>
          <a:ln w="12700">
            <a:solidFill>
              <a:srgbClr val="B2D4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9787" y="2146300"/>
            <a:ext cx="708801" cy="708819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4747" y="2341265"/>
            <a:ext cx="318881" cy="3188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0408" y="3091359"/>
            <a:ext cx="2967559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Problem: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10408" y="3620691"/>
            <a:ext cx="2967559" cy="1511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roll-calls waste class time and are prone to errors and proxy attendance.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363135" y="1897360"/>
            <a:ext cx="3465426" cy="3861891"/>
          </a:xfrm>
          <a:prstGeom prst="roundRect">
            <a:avLst>
              <a:gd name="adj" fmla="val 2864"/>
            </a:avLst>
          </a:prstGeom>
          <a:solidFill>
            <a:srgbClr val="CCEEFF"/>
          </a:solidFill>
          <a:ln w="12700">
            <a:solidFill>
              <a:srgbClr val="B2D4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41447" y="2146300"/>
            <a:ext cx="708801" cy="708819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36407" y="2341265"/>
            <a:ext cx="318881" cy="3188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2068" y="3091359"/>
            <a:ext cx="2967559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Objective: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612068" y="3620691"/>
            <a:ext cx="2967559" cy="1889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 simple, low-cost laptop-based system to automate attendance while handling masks and imperfect face poses.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8064794" y="1897360"/>
            <a:ext cx="3465426" cy="3861891"/>
          </a:xfrm>
          <a:prstGeom prst="roundRect">
            <a:avLst>
              <a:gd name="adj" fmla="val 2864"/>
            </a:avLst>
          </a:prstGeom>
          <a:solidFill>
            <a:srgbClr val="CCEEFF"/>
          </a:solidFill>
          <a:ln w="12700">
            <a:solidFill>
              <a:srgbClr val="B2D4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443107" y="2146300"/>
            <a:ext cx="708801" cy="708819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8067" y="2341265"/>
            <a:ext cx="318881" cy="31888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13728" y="3091359"/>
            <a:ext cx="2967559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Scope: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313728" y="3620691"/>
            <a:ext cx="2967559" cy="1889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a standard laptop webcam or USB webcam; intended for classroom settings and demonstrations</a:t>
            </a:r>
            <a:endParaRPr lang="en-US" sz="18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AB9080-D7C5-776E-AC7A-6CD88AEE78C6}"/>
              </a:ext>
            </a:extLst>
          </p:cNvPr>
          <p:cNvSpPr/>
          <p:nvPr/>
        </p:nvSpPr>
        <p:spPr>
          <a:xfrm>
            <a:off x="10990053" y="6512943"/>
            <a:ext cx="1201947" cy="34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9684"/>
            <a:ext cx="10868745" cy="448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508720"/>
            <a:ext cx="10868745" cy="538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Reference: "Lightweight face recognition-based portable attendance system with liveness detection" — Nico Surantha &amp; Boy Sugijakko, Internet of Things, 2024.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086323" y="2165846"/>
            <a:ext cx="19050" cy="3980954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5" name="Shape 3"/>
          <p:cNvSpPr/>
          <p:nvPr/>
        </p:nvSpPr>
        <p:spPr>
          <a:xfrm>
            <a:off x="642425" y="2165846"/>
            <a:ext cx="5434373" cy="1205607"/>
          </a:xfrm>
          <a:custGeom>
            <a:avLst/>
            <a:gdLst/>
            <a:ahLst/>
            <a:cxnLst/>
            <a:rect l="l" t="t" r="r" b="b"/>
            <a:pathLst>
              <a:path w="5434373" h="1205607">
                <a:moveTo>
                  <a:pt x="47873" y="0"/>
                </a:moveTo>
                <a:lnTo>
                  <a:pt x="5434373" y="0"/>
                </a:lnTo>
                <a:lnTo>
                  <a:pt x="5434373" y="1205607"/>
                </a:lnTo>
                <a:lnTo>
                  <a:pt x="47873" y="1205607"/>
                </a:lnTo>
                <a:arcTo wR="47873" hR="47874" stAng="5400000" swAng="5400000"/>
                <a:lnTo>
                  <a:pt x="0" y="47874"/>
                </a:lnTo>
                <a:arcTo wR="47873" hR="47874" stAng="10800000" swAng="5400000"/>
                <a:close/>
              </a:path>
            </a:pathLst>
          </a:cu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5495" y="2308920"/>
            <a:ext cx="5154583" cy="224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Prototype Approach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5495" y="2580680"/>
            <a:ext cx="5154583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Raspberry Pi 4B, USB camera, ultrasonic sensor; Viola-Jones for detection; MobileFaceNet for recognition; MobileNetV2 for liveness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14897" y="3529806"/>
            <a:ext cx="5434373" cy="1253034"/>
          </a:xfrm>
          <a:custGeom>
            <a:avLst/>
            <a:gdLst/>
            <a:ahLst/>
            <a:cxnLst/>
            <a:rect l="l" t="t" r="r" b="b"/>
            <a:pathLst>
              <a:path w="5434373" h="1253034">
                <a:moveTo>
                  <a:pt x="0" y="0"/>
                </a:moveTo>
                <a:lnTo>
                  <a:pt x="5386500" y="0"/>
                </a:lnTo>
                <a:arcTo wR="47873" hR="47874" stAng="16200000" swAng="5400000"/>
                <a:lnTo>
                  <a:pt x="5434373" y="1205159"/>
                </a:lnTo>
                <a:arcTo wR="47873" hR="47874" stAng="0" swAng="5400000"/>
                <a:lnTo>
                  <a:pt x="0" y="1253034"/>
                </a:lnTo>
                <a:lnTo>
                  <a:pt x="0" y="0"/>
                </a:lnTo>
                <a:close/>
              </a:path>
            </a:pathLst>
          </a:cu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51617" y="3672880"/>
            <a:ext cx="5154583" cy="224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Reported Prototype Results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51617" y="3944640"/>
            <a:ext cx="5154583" cy="695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 reported ~96% live-face accuracy and 0.48–0.57s processing time in prototype testing (reported by authors).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425" y="4941193"/>
            <a:ext cx="5434373" cy="1205607"/>
          </a:xfrm>
          <a:custGeom>
            <a:avLst/>
            <a:gdLst/>
            <a:ahLst/>
            <a:cxnLst/>
            <a:rect l="l" t="t" r="r" b="b"/>
            <a:pathLst>
              <a:path w="5434373" h="1205607">
                <a:moveTo>
                  <a:pt x="47873" y="0"/>
                </a:moveTo>
                <a:lnTo>
                  <a:pt x="5434373" y="0"/>
                </a:lnTo>
                <a:lnTo>
                  <a:pt x="5434373" y="1205607"/>
                </a:lnTo>
                <a:lnTo>
                  <a:pt x="47873" y="1205607"/>
                </a:lnTo>
                <a:arcTo wR="47873" hR="47874" stAng="5400000" swAng="5400000"/>
                <a:lnTo>
                  <a:pt x="0" y="47874"/>
                </a:lnTo>
                <a:arcTo wR="47873" hR="47874" stAng="10800000" swAng="5400000"/>
                <a:close/>
              </a:path>
            </a:pathLst>
          </a:cu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5495" y="5084266"/>
            <a:ext cx="5154583" cy="224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Relevance to Our 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5495" y="5356027"/>
            <a:ext cx="5154583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paper motivates lightweight, portable attendance solutions and inclusion of liveness checks; we compare approaches but keep our own implementation details separate.</a:t>
            </a:r>
            <a:endParaRPr lang="en-US" sz="13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DA00B3-7AD5-93E8-25D1-4E1629176BAF}"/>
              </a:ext>
            </a:extLst>
          </p:cNvPr>
          <p:cNvSpPr/>
          <p:nvPr/>
        </p:nvSpPr>
        <p:spPr>
          <a:xfrm>
            <a:off x="10990053" y="6512943"/>
            <a:ext cx="1201947" cy="34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9684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Previous System vs Our System</a:t>
            </a:r>
            <a:endParaRPr lang="en-US" sz="36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430437"/>
          <a:ext cx="10868745" cy="3264612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Aspect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Surantha &amp; Sugijakko (2024)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Our Laptop-Based System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Platform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Raspberry Pi 4B prototype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Laptop with webcam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1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Face Detection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Viola-Jones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MediaPipe Face Landmarker (face detection &amp; landmarks)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Face Recognition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MobileFaceNet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OpenCV SFace embeddings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1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Liveness / Anti-spoofing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MobileNetV2-based liveness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Motion / head-pose guidance signals (no CNN-based liveness)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1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Storage &amp; Dashboard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Prototype-specific storage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SQLite storage + Flask dashboard + Excel export (openpyxl)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4857254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61475" y="5254724"/>
            <a:ext cx="10868745" cy="837009"/>
          </a:xfrm>
          <a:prstGeom prst="roundRect">
            <a:avLst>
              <a:gd name="adj" fmla="val 8892"/>
            </a:avLst>
          </a:prstGeom>
          <a:solidFill>
            <a:srgbClr val="CCEE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75" y="5448201"/>
            <a:ext cx="221451" cy="1772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7326" y="5431830"/>
            <a:ext cx="1011569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Note:</a:t>
            </a: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Paper results are reported by the authors and are used only for literature comparison—not as results for our system</a:t>
            </a:r>
            <a:endParaRPr lang="en-US" sz="13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7AB496-E6F8-1DCE-6D8E-469F6B785CDC}"/>
              </a:ext>
            </a:extLst>
          </p:cNvPr>
          <p:cNvSpPr/>
          <p:nvPr/>
        </p:nvSpPr>
        <p:spPr>
          <a:xfrm>
            <a:off x="10990053" y="6512943"/>
            <a:ext cx="1201947" cy="34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843" y="1609725"/>
            <a:ext cx="3263818" cy="36385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649684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&amp; Student Data</a:t>
            </a:r>
            <a:endParaRPr lang="en-US" sz="3650" dirty="0"/>
          </a:p>
        </p:txBody>
      </p:sp>
      <p:sp>
        <p:nvSpPr>
          <p:cNvPr id="5" name="Shape 1"/>
          <p:cNvSpPr/>
          <p:nvPr/>
        </p:nvSpPr>
        <p:spPr>
          <a:xfrm>
            <a:off x="794325" y="1430437"/>
            <a:ext cx="19050" cy="4357092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6" name="Shape 2"/>
          <p:cNvSpPr/>
          <p:nvPr/>
        </p:nvSpPr>
        <p:spPr>
          <a:xfrm>
            <a:off x="775276" y="1620242"/>
            <a:ext cx="354401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7" name="Shape 3"/>
          <p:cNvSpPr/>
          <p:nvPr/>
        </p:nvSpPr>
        <p:spPr>
          <a:xfrm>
            <a:off x="727900" y="1563340"/>
            <a:ext cx="132851" cy="132854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8" name="Text 4"/>
          <p:cNvSpPr/>
          <p:nvPr/>
        </p:nvSpPr>
        <p:spPr>
          <a:xfrm>
            <a:off x="1503126" y="1491258"/>
            <a:ext cx="5455208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Classroom database contains records for 63 students (serial no., enrollment no., name).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775276" y="2528292"/>
            <a:ext cx="354401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10" name="Shape 6"/>
          <p:cNvSpPr/>
          <p:nvPr/>
        </p:nvSpPr>
        <p:spPr>
          <a:xfrm>
            <a:off x="727900" y="2471390"/>
            <a:ext cx="132851" cy="132854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11" name="Text 7"/>
          <p:cNvSpPr/>
          <p:nvPr/>
        </p:nvSpPr>
        <p:spPr>
          <a:xfrm>
            <a:off x="1503126" y="2399308"/>
            <a:ext cx="5455208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Face data enrollment is guided: instructor-led enrollment for students present during demonstration.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775276" y="3727053"/>
            <a:ext cx="354401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13" name="Shape 9"/>
          <p:cNvSpPr/>
          <p:nvPr/>
        </p:nvSpPr>
        <p:spPr>
          <a:xfrm>
            <a:off x="727900" y="3670151"/>
            <a:ext cx="132851" cy="132854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14" name="Text 10"/>
          <p:cNvSpPr/>
          <p:nvPr/>
        </p:nvSpPr>
        <p:spPr>
          <a:xfrm>
            <a:off x="1503126" y="3598069"/>
            <a:ext cx="5455208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Face templates are stored per enrolled student; do NOT assume all 63 students have face data enrolled.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775276" y="4925814"/>
            <a:ext cx="354401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16" name="Shape 12"/>
          <p:cNvSpPr/>
          <p:nvPr/>
        </p:nvSpPr>
        <p:spPr>
          <a:xfrm>
            <a:off x="727900" y="4868912"/>
            <a:ext cx="132851" cy="132854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17" name="Text 13"/>
          <p:cNvSpPr/>
          <p:nvPr/>
        </p:nvSpPr>
        <p:spPr>
          <a:xfrm>
            <a:off x="1503126" y="4796830"/>
            <a:ext cx="545520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Storage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503126" y="5167213"/>
            <a:ext cx="5455208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 embeddings stored alongside student metadata in local files / SQLite references.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9684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Methodology — System Pipeline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562" y="1339155"/>
            <a:ext cx="1076000" cy="8065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72252" y="1707852"/>
            <a:ext cx="2125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067669" y="1490266"/>
            <a:ext cx="731144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Capture &amp; Detect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067669" y="1796256"/>
            <a:ext cx="7311445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Webcam captures live video. MediaPipe detects faces and facial landmarks.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954264" y="2156619"/>
            <a:ext cx="7538254" cy="9525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611" y="2183408"/>
            <a:ext cx="2152001" cy="8065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2351" y="2453779"/>
            <a:ext cx="2125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4605718" y="2334518"/>
            <a:ext cx="677339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Pose &amp; Embed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605718" y="2640509"/>
            <a:ext cx="6773395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position is checked, and SFace generates a face embedding for recognition.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492314" y="3000871"/>
            <a:ext cx="7000204" cy="9525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4561" y="3027660"/>
            <a:ext cx="3228001" cy="806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72252" y="3298031"/>
            <a:ext cx="2125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5143669" y="3178770"/>
            <a:ext cx="623544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Verify Identity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5143669" y="3484761"/>
            <a:ext cx="6235445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live face embedding is compared with enrolled student face data.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030265" y="3845123"/>
            <a:ext cx="6462253" cy="9525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6611" y="3871913"/>
            <a:ext cx="4304002" cy="80654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272252" y="4142284"/>
            <a:ext cx="2125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5681719" y="4023023"/>
            <a:ext cx="569739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Confirm &amp; Record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5681719" y="4329013"/>
            <a:ext cx="5697395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matching frames confirm the identity, and attendance is marked once.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568315" y="4689376"/>
            <a:ext cx="5924203" cy="9525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561" y="4716165"/>
            <a:ext cx="5380002" cy="80654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272252" y="4986536"/>
            <a:ext cx="2125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6219669" y="4867275"/>
            <a:ext cx="515944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Store &amp; Display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6219669" y="5173266"/>
            <a:ext cx="5159444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 is saved in SQLite and displayed on the Flask dashboard.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61475" y="5631458"/>
            <a:ext cx="10868745" cy="457398"/>
          </a:xfrm>
          <a:prstGeom prst="roundRect">
            <a:avLst>
              <a:gd name="adj" fmla="val 13882"/>
            </a:avLst>
          </a:prstGeom>
          <a:solidFill>
            <a:srgbClr val="CCEEFF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581" y="5773241"/>
            <a:ext cx="188908" cy="15111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152595" y="5765800"/>
            <a:ext cx="10836103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 flow used during a 10-minute attendance session (automatic session end triggers database finalize and export options).</a:t>
            </a:r>
            <a:endParaRPr lang="en-US" sz="11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F80720-150D-59F1-3354-7DCFD29633B6}"/>
              </a:ext>
            </a:extLst>
          </p:cNvPr>
          <p:cNvSpPr/>
          <p:nvPr/>
        </p:nvSpPr>
        <p:spPr>
          <a:xfrm>
            <a:off x="10990053" y="6512943"/>
            <a:ext cx="1201947" cy="34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9684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Technologies Used &amp; Their Functions</a:t>
            </a:r>
            <a:endParaRPr lang="en-US" sz="3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572320"/>
          <a:ext cx="10868745" cy="4195953"/>
        </p:xfrm>
        <a:graphic>
          <a:graphicData uri="http://schemas.openxmlformats.org/drawingml/2006/table">
            <a:tbl>
              <a:tblPr/>
              <a:tblGrid>
                <a:gridCol w="2551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6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Technology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Function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Python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 programming language used to develop the system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Flask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Connect backend logic with the web dashboard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OpenCV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Process webcam frames and perform face recognition using SFace   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MediaPipe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Detects Faces, facial landmarks and head-pose information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OpenCV SFace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Generates face embeddings and compare face identities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SQLite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Stores student details, attendance and session records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HTML/CSS/JavaScript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Creates the dashboard interface and live updates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openpyxl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Exports attendance records to Excel Files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E99810A-9F63-B558-2B1E-CF190184C5EE}"/>
              </a:ext>
            </a:extLst>
          </p:cNvPr>
          <p:cNvSpPr/>
          <p:nvPr/>
        </p:nvSpPr>
        <p:spPr>
          <a:xfrm>
            <a:off x="10990053" y="6512943"/>
            <a:ext cx="1201947" cy="34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649684"/>
            <a:ext cx="6296860" cy="108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Experimental Results &amp; Discussion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5357381" y="1908770"/>
            <a:ext cx="19050" cy="4218186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6" name="Shape 2"/>
          <p:cNvSpPr/>
          <p:nvPr/>
        </p:nvSpPr>
        <p:spPr>
          <a:xfrm>
            <a:off x="5338331" y="2085280"/>
            <a:ext cx="330688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7" name="Shape 3"/>
          <p:cNvSpPr/>
          <p:nvPr/>
        </p:nvSpPr>
        <p:spPr>
          <a:xfrm>
            <a:off x="5295371" y="2032794"/>
            <a:ext cx="124020" cy="124023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8" name="Text 4"/>
          <p:cNvSpPr/>
          <p:nvPr/>
        </p:nvSpPr>
        <p:spPr>
          <a:xfrm>
            <a:off x="6018955" y="1965623"/>
            <a:ext cx="5511265" cy="54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demonstrates real-time face detection and recognition on laptop/USB webcams during live demos.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338331" y="2916337"/>
            <a:ext cx="330688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10" name="Shape 6"/>
          <p:cNvSpPr/>
          <p:nvPr/>
        </p:nvSpPr>
        <p:spPr>
          <a:xfrm>
            <a:off x="5295371" y="2863850"/>
            <a:ext cx="124020" cy="124023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11" name="Text 7"/>
          <p:cNvSpPr/>
          <p:nvPr/>
        </p:nvSpPr>
        <p:spPr>
          <a:xfrm>
            <a:off x="6018955" y="2796679"/>
            <a:ext cx="5511265" cy="54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Mask detection flags masked faces and integrates with recognition flow.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338331" y="3747393"/>
            <a:ext cx="330688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13" name="Shape 9"/>
          <p:cNvSpPr/>
          <p:nvPr/>
        </p:nvSpPr>
        <p:spPr>
          <a:xfrm>
            <a:off x="5295371" y="3694906"/>
            <a:ext cx="124020" cy="124023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14" name="Text 10"/>
          <p:cNvSpPr/>
          <p:nvPr/>
        </p:nvSpPr>
        <p:spPr>
          <a:xfrm>
            <a:off x="6018955" y="3627735"/>
            <a:ext cx="5511265" cy="54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Head-pose guidance improves chance of successful embedding by prompting users to adjust position.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338331" y="4578449"/>
            <a:ext cx="330688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16" name="Shape 12"/>
          <p:cNvSpPr/>
          <p:nvPr/>
        </p:nvSpPr>
        <p:spPr>
          <a:xfrm>
            <a:off x="5295371" y="4525963"/>
            <a:ext cx="124020" cy="124023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17" name="Text 13"/>
          <p:cNvSpPr/>
          <p:nvPr/>
        </p:nvSpPr>
        <p:spPr>
          <a:xfrm>
            <a:off x="6018955" y="4458791"/>
            <a:ext cx="5511265" cy="54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Duplicate attendance prevention and multiple-frame confirmation reduce false positives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338331" y="5409505"/>
            <a:ext cx="330688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19" name="Shape 15"/>
          <p:cNvSpPr/>
          <p:nvPr/>
        </p:nvSpPr>
        <p:spPr>
          <a:xfrm>
            <a:off x="5295371" y="5357019"/>
            <a:ext cx="124020" cy="124023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20" name="Text 16"/>
          <p:cNvSpPr/>
          <p:nvPr/>
        </p:nvSpPr>
        <p:spPr>
          <a:xfrm>
            <a:off x="6018955" y="5289848"/>
            <a:ext cx="5511265" cy="54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Flask dashboard updates live; attendance can be exported to Excel (openpyxl).</a:t>
            </a:r>
            <a:endParaRPr lang="en-US" sz="17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E8DA48-114E-29A6-BED1-5A764D8B5571}"/>
              </a:ext>
            </a:extLst>
          </p:cNvPr>
          <p:cNvSpPr/>
          <p:nvPr/>
        </p:nvSpPr>
        <p:spPr>
          <a:xfrm>
            <a:off x="10990053" y="6512943"/>
            <a:ext cx="1201947" cy="34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E3866ED-B7C5-BF0A-484D-C492716F0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9684"/>
            <a:ext cx="4510991" cy="54321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9684"/>
            <a:ext cx="10868745" cy="120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Challenges, Conclusion , Future Work &amp; Current Limitation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661475" y="2341166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4" name="Shape 2"/>
          <p:cNvSpPr/>
          <p:nvPr/>
        </p:nvSpPr>
        <p:spPr>
          <a:xfrm>
            <a:off x="1940869" y="2341166"/>
            <a:ext cx="25399" cy="549275"/>
          </a:xfrm>
          <a:prstGeom prst="roundRect">
            <a:avLst>
              <a:gd name="adj" fmla="val 50001"/>
            </a:avLst>
          </a:prstGeom>
          <a:solidFill>
            <a:srgbClr val="B2D4E5"/>
          </a:solidFill>
          <a:ln/>
        </p:spPr>
      </p:sp>
      <p:sp>
        <p:nvSpPr>
          <p:cNvPr id="5" name="Shape 3"/>
          <p:cNvSpPr/>
          <p:nvPr/>
        </p:nvSpPr>
        <p:spPr>
          <a:xfrm>
            <a:off x="1747595" y="2135188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407" y="2160935"/>
            <a:ext cx="288322" cy="360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44529" y="3073598"/>
            <a:ext cx="2218079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44529" y="3459063"/>
            <a:ext cx="2218079" cy="2080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lighting, occlusions from masks/glasses, limited enrolled face samples for some students, and reliance on head-pose/motion signals for liveness guidance.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2355" y="2341166"/>
            <a:ext cx="25399" cy="549275"/>
          </a:xfrm>
          <a:prstGeom prst="roundRect">
            <a:avLst>
              <a:gd name="adj" fmla="val 50001"/>
            </a:avLst>
          </a:prstGeom>
          <a:solidFill>
            <a:srgbClr val="B2D4E5"/>
          </a:solidFill>
          <a:ln/>
        </p:spPr>
      </p:sp>
      <p:sp>
        <p:nvSpPr>
          <p:cNvPr id="10" name="Shape 8"/>
          <p:cNvSpPr/>
          <p:nvPr/>
        </p:nvSpPr>
        <p:spPr>
          <a:xfrm>
            <a:off x="4509082" y="2135188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0893" y="2160935"/>
            <a:ext cx="288322" cy="360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3606015" y="3073598"/>
            <a:ext cx="2218079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3606015" y="3459063"/>
            <a:ext cx="2218079" cy="2600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built a laptop-based, practical attendance system using MediaPipe and OpenCV SFace with a Flask dashboard and SQLite storage. The design prioritizes low-cost deployment and guided enrollment for classroom use.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63841" y="2341166"/>
            <a:ext cx="25399" cy="549275"/>
          </a:xfrm>
          <a:prstGeom prst="roundRect">
            <a:avLst>
              <a:gd name="adj" fmla="val 50001"/>
            </a:avLst>
          </a:prstGeom>
          <a:solidFill>
            <a:srgbClr val="B2D4E5"/>
          </a:solidFill>
          <a:ln/>
        </p:spPr>
      </p:sp>
      <p:sp>
        <p:nvSpPr>
          <p:cNvPr id="15" name="Shape 13"/>
          <p:cNvSpPr/>
          <p:nvPr/>
        </p:nvSpPr>
        <p:spPr>
          <a:xfrm>
            <a:off x="7270568" y="2135188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2380" y="2160935"/>
            <a:ext cx="288322" cy="360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367502" y="3073598"/>
            <a:ext cx="2218079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Work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367502" y="3459063"/>
            <a:ext cx="2218079" cy="2600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enrollment UX, add optional sensor-based or model-based anti-spoofing modules (evaluated separately), support larger-scale deployments, and collect controlled evaluation data for formal accuracy reporting.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225328" y="2341166"/>
            <a:ext cx="25399" cy="549275"/>
          </a:xfrm>
          <a:prstGeom prst="roundRect">
            <a:avLst>
              <a:gd name="adj" fmla="val 50001"/>
            </a:avLst>
          </a:prstGeom>
          <a:solidFill>
            <a:srgbClr val="B2D4E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32054" y="2135188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93866" y="2160935"/>
            <a:ext cx="288322" cy="360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128988" y="3073598"/>
            <a:ext cx="2218178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Spoofing Risk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9128988" y="3459063"/>
            <a:ext cx="2218178" cy="2600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Since our system uses a normal webcam and basic motion/head-pose guidance, it cannot completely prevent proxy attendance through photos or videos. Stronger liveness detection is required for improved security.</a:t>
            </a:r>
            <a:endParaRPr lang="en-US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7AC25A-749F-3609-2C08-DE58614F8A7E}"/>
              </a:ext>
            </a:extLst>
          </p:cNvPr>
          <p:cNvSpPr/>
          <p:nvPr/>
        </p:nvSpPr>
        <p:spPr>
          <a:xfrm>
            <a:off x="10990053" y="6512943"/>
            <a:ext cx="1201947" cy="34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B6D7A5-5CFB-E71E-52ED-F132E7EFEB79}"/>
              </a:ext>
            </a:extLst>
          </p:cNvPr>
          <p:cNvSpPr txBox="1"/>
          <p:nvPr/>
        </p:nvSpPr>
        <p:spPr>
          <a:xfrm>
            <a:off x="4270134" y="6400799"/>
            <a:ext cx="419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842</Words>
  <Application>Microsoft Office PowerPoint</Application>
  <PresentationFormat>Widescreen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Algerian</vt:lpstr>
      <vt:lpstr>Inter</vt:lpstr>
      <vt:lpstr>Arial</vt:lpstr>
      <vt:lpstr>Petrona Bold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Murad khan</cp:lastModifiedBy>
  <cp:revision>3</cp:revision>
  <dcterms:created xsi:type="dcterms:W3CDTF">2026-09-20T17:41:08Z</dcterms:created>
  <dcterms:modified xsi:type="dcterms:W3CDTF">2026-09-21T08:57:45Z</dcterms:modified>
</cp:coreProperties>
</file>